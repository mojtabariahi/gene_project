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معرفی موضوع: طبقه‌بندی سرطان با داده‌های بیان ژن RNA-Seq و یادگیری ماشین.
- تأکید بر اهمیت RNA-Seq به‌عنوان ابزار قدرتمند برای سنجش بیان هزاران ژن به‌طور همزمان.
- خلاصه هدف ارائه: معرفی پایپ‌لاین، نتایج SVM با دقت ۹۹.۸۷٪، و ۱۰۶ ژن کلیدی به‌عنوان بیومارکر.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اشاره به بار جهانی سرطان — حدود ۱۰ میلیون مرگ سالانه (2022).
- مزیت RNA-Seq نسبت به روش‌های سنتی: پوشش همزمان هزاران ژن.
- پل زدن به چالش داده‌ها: ابعاد بالا و نمونه محدود در اسلاید بعدی.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توضیح پدیده Curse of Dimensionality — افزایش ابعاد فضای ویژگی.
- اهمیت نسبت نمونه به ویژگی (811 vs 20,531) و خطر Overfitting.
- اشاره به راه‌حل در اسلایدهای بعدی: انتخاب ویژگی با Lasso، Ridge و RF +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تأکید بر هر چهار هدف: طبقه‌بندی، شناسایی بیومارکر، مقایسه مدل‌ها، انتخاب بهترین.
- خروجی اصلی پژوهش هم مدل طبقه‌بندی و هم مجموعه ۱۰۶ ژن به‌عنوان بیومارکر است.
- پل به اسلاید بعدی: معرفی مجموعه داده PANCAN و پلتفرم Illumina HiSeq.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اشاره به اعتبار بالای TCGA به‌عنوان منبع داده استاندارد جهانی برای سرطان.
- توضیح عدم تعادل کلاس‌ها (Class Imbalance) — توزیع نامتساوی بین ۵ نوع سرطان.
- پلتفرم Illumina HiSeq: نسل توالی‌یابی NGS با پوشش بالا و خطای پایین.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تفاوت L1 و L2 را توضیح دهید: L1 صفر می‌کند، L2 کوچک می‌کند.
- مزیت Random Forest در شناسایی اهمیت ویژگی غیرخطی را برجسته کنید.
- اشاره کنید که این سه روش مکمل‌اند و در اسلاید بعدی نحوه ترکیبشان را می‌بینیم.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منطق تقاطع (intersection) برای افزایش اعتبار ژن‌های انتخاب‌شده را توضیح دهید.
- به کاهش چشمگیر ابعاد از ۲۰,۵۳۱ به ۱۰۶ ژن اشاره کنید.
- تأکید کنید که همین مجموعه ۱۰۶ ژن روی همه مدل‌ها تکرارپذیر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به تنوع خانواده‌های مدل (خطی، غیرخطی، احتمالی، تولیفی) اشاره کنید.
- تأکید کنید که همه مدل‌ها روی همان مجموعه ۱۰۶ ژن ارزیابی شده‌اند.
- SVM را به‌عنوان کاندید اصلی معرفی کنید که در اسلاید نتایج برنده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مزیت Cross-Validation را نسبت به Split معمولی توضیح دهید (پایداری بیشتر، کاهش واریانس).
- اهمیت Confusion Matrix را برای داده‌های نامتوازن برجسته کنید.
- تأکید کنید که Accuracy در 5-Fold CV معیار اصلی انتخاب مدل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اختلاف کم ولی تعیین‌کننده‌ای میان مدل‌ها در 5-Fold Cross-Validation دیده می‌شود.
- QDA ضعیف‌ترین عملکرد را داشت با دقتی حدود ۵۰٪ — تقریباً تصادفی.
- SVM با kernel خطی و C=1.0 بهترین نتیجه را به ثبت رساند.
- نرخ خطای ۰.۱۳٪ نشان‌دهنده پایداری بالا در همه فولدهاست.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هر چهار دستاورد با هم پیوند خورده‌اند: کاهش ابعاد، طبقه‌بندی، بیومارکر، کاربرد بالینی.
- ۱۰۶ ژن منتخب پایه‌ای برای تحقیقات بیولوژیک و بالینی بعدی فراهم می‌کنند.
- SVM به‌عنوان مدل نهایی برای استقرار در سیستم تشخیص خودکار پیشنهاد می‌شود.
- در اسلاید بعد محدودیت‌های این پژوهش را مرور می‌کنیم.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Metadata برای تفسیر بالینی بیومارکرها حیاتی است و نبود آن بزرگ‌ترین محدودیت است.
- اعتبارسنجی روی CuMiDa گام اول بود اما برای تعمیم‌پذیری نیاز به داده‌های مستقل بیشتر است.
- در مطالعات بعدی باید داده‌های چندمرکزی و چندپلتفرمی جمع‌آوری شوند.
- پایان ارائه — آماده پاسخ به پرسش‌های شما هستم.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86375" y="2961754"/>
            <a:ext cx="3286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58213" y="2958182"/>
            <a:ext cx="0" cy="1071563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86375" y="4026173"/>
            <a:ext cx="328612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89947" y="2958182"/>
            <a:ext cx="0" cy="1071563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785813"/>
            <a:ext cx="8572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48C9A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پروژه درس — سال تحصیلی ۱۴۰۴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43000" y="1053703"/>
            <a:ext cx="7429500" cy="916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341"/>
              </a:lnSpc>
              <a:buNone/>
            </a:pPr>
            <a:r>
              <a:rPr lang="en-US" sz="2475" b="1" spc="-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طبقه‌بندی انواع سرطان با استفاده از داده‌های بیان ژن RNA-Seq و یادگیری ماشین</a:t>
            </a:r>
            <a:endParaRPr lang="en-US" sz="2475" dirty="0"/>
          </a:p>
        </p:txBody>
      </p:sp>
      <p:sp>
        <p:nvSpPr>
          <p:cNvPr id="9" name="Text 6"/>
          <p:cNvSpPr/>
          <p:nvPr/>
        </p:nvSpPr>
        <p:spPr>
          <a:xfrm>
            <a:off x="1143000" y="2016547"/>
            <a:ext cx="7429500" cy="21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48C9A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Learning Approach to Identify Significant Genes and Classify Cancer Types from RNA-Seq Data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8001000" y="2372953"/>
            <a:ext cx="571500" cy="21431"/>
          </a:xfrm>
          <a:prstGeom prst="roundRect">
            <a:avLst>
              <a:gd name="adj" fmla="val 8889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286375" y="2958182"/>
            <a:ext cx="3286125" cy="1071563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465790" y="3115345"/>
            <a:ext cx="9209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ارائه‌دهنده: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80395" y="3093913"/>
            <a:ext cx="7491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مجتبی ریاحی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380923" y="3315370"/>
            <a:ext cx="10058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نام درس: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94645" y="3293938"/>
            <a:ext cx="103486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ژنومیک محاسباتی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465790" y="3515395"/>
            <a:ext cx="9209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استاد درس: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1833" y="3493963"/>
            <a:ext cx="67768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دکتر قنبری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45179" y="3715420"/>
            <a:ext cx="124158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سال: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163753" y="3693988"/>
            <a:ext cx="36576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۲۰۲۵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75072" y="3511823"/>
            <a:ext cx="1988753" cy="217884"/>
          </a:xfrm>
          <a:prstGeom prst="roundRect">
            <a:avLst>
              <a:gd name="adj" fmla="val 4367221"/>
            </a:avLst>
          </a:prstGeom>
          <a:solidFill>
            <a:srgbClr val="48C9A9">
              <a:alpha val="14000"/>
            </a:srgbClr>
          </a:solidFill>
          <a:ln w="7144">
            <a:solidFill>
              <a:srgbClr val="48C9A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075581" y="3576117"/>
            <a:ext cx="1398947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48C9A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· ML · BIOINFORMATICS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64369" y="3551113"/>
            <a:ext cx="3683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48C9A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914" dirty="0"/>
          </a:p>
        </p:txBody>
      </p:sp>
      <p:sp>
        <p:nvSpPr>
          <p:cNvPr id="23" name="Text 20"/>
          <p:cNvSpPr/>
          <p:nvPr/>
        </p:nvSpPr>
        <p:spPr>
          <a:xfrm>
            <a:off x="575072" y="3808288"/>
            <a:ext cx="2173598" cy="217884"/>
          </a:xfrm>
          <a:prstGeom prst="roundRect">
            <a:avLst>
              <a:gd name="adj" fmla="val 4367221"/>
            </a:avLst>
          </a:prstGeom>
          <a:solidFill>
            <a:srgbClr val="48C9A9">
              <a:alpha val="14000"/>
            </a:srgbClr>
          </a:solidFill>
          <a:ln w="7144">
            <a:solidFill>
              <a:srgbClr val="48C9A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140098" y="3872582"/>
            <a:ext cx="1519275" cy="11970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48C9A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CANCER CLASSES · 20,531 GENES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64369" y="3847579"/>
            <a:ext cx="43286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48C9A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26" name="Text 23"/>
          <p:cNvSpPr/>
          <p:nvPr/>
        </p:nvSpPr>
        <p:spPr>
          <a:xfrm>
            <a:off x="571500" y="4593431"/>
            <a:ext cx="8001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48C9A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pPr algn="r" indent="0" marL="0">
              <a:lnSpc>
                <a:spcPts val="1013"/>
              </a:lnSpc>
              <a:buNone/>
            </a:pPr>
            <a:r>
              <a:rPr lang="en-US" sz="800" spc="1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بر اساس مقاله: Akter, Adesola &amp; Basnet (2025) — Global Medical Genetics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0772" y="260747"/>
            <a:ext cx="364331" cy="364331"/>
          </a:xfrm>
          <a:prstGeom prst="roundRect">
            <a:avLst>
              <a:gd name="adj" fmla="val 36601"/>
            </a:avLst>
          </a:prstGeom>
          <a:solidFill>
            <a:srgbClr val="16A085">
              <a:alpha val="18000"/>
            </a:srgbClr>
          </a:solidFill>
          <a:ln w="7144">
            <a:solidFill>
              <a:srgbClr val="48C9A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87561" y="287536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48C9A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210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893308" y="587273"/>
            <a:ext cx="816352" cy="268491"/>
          </a:xfrm>
          <a:prstGeom prst="roundRect">
            <a:avLst>
              <a:gd name="adj" fmla="val 21286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633508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642938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16180" y="651867"/>
            <a:ext cx="285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مقدمه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900113"/>
            <a:ext cx="8636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چرا طبقه‌بندی سرطان با RNA-Seq؟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25372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49129" y="1453753"/>
            <a:ext cx="4937671" cy="638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1"/>
              </a:lnSpc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سرطان یکی از مهم‌ترین علل مرگ‌ومیر در جهان است و تشخیص سریع و دقیق آن نقش حیاتی در موفقیت درمان دارد. فناوری RNA-Seq امکان اندازه‌گیری میزان بیان هزاران ژن را به‌طور همزمان فراهم کرده است.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3749129" y="2119908"/>
            <a:ext cx="4937671" cy="95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سرطان یکی از مهم‌ترین علل مرگ‌ومیر در جهان است</a:t>
            </a:r>
            <a:endParaRPr lang="en-US" sz="844" dirty="0"/>
          </a:p>
          <a:p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تشخیص سریع و دقیق نقش حیاتی در درمان دارد</a:t>
            </a:r>
            <a:endParaRPr lang="en-US" sz="844" dirty="0"/>
          </a:p>
          <a:p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فناوری RNA-Seq امکان اندازه‌گیری میزان بیان هزاران ژن را فراهم می‌کند</a:t>
            </a:r>
            <a:endParaRPr lang="en-US" sz="844" dirty="0"/>
          </a:p>
          <a:p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r" indent="0" marL="0">
              <a:lnSpc>
                <a:spcPts val="1434"/>
              </a:lnSpc>
              <a:spcAft>
                <a:spcPts val="338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الگوی بیان ژن می‌تواند نوع سرطان را مشخص کند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457200" y="1410891"/>
            <a:ext cx="3120479" cy="527075"/>
          </a:xfrm>
          <a:prstGeom prst="roundRect">
            <a:avLst>
              <a:gd name="adj" fmla="val 18071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63392" y="1410891"/>
            <a:ext cx="0" cy="527075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0479" y="1517266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42982" y="1539768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828" dirty="0"/>
          </a:p>
        </p:txBody>
      </p:sp>
      <p:sp>
        <p:nvSpPr>
          <p:cNvPr id="17" name="Text 15"/>
          <p:cNvSpPr/>
          <p:nvPr/>
        </p:nvSpPr>
        <p:spPr>
          <a:xfrm>
            <a:off x="1476792" y="1510903"/>
            <a:ext cx="1543675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350" b="1" spc="-13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~10 میلیون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97968" y="1713719"/>
            <a:ext cx="1422499" cy="124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مرگ سالانه ناشی از سرطان (2022)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2023690"/>
            <a:ext cx="3120479" cy="527075"/>
          </a:xfrm>
          <a:prstGeom prst="roundRect">
            <a:avLst>
              <a:gd name="adj" fmla="val 18071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63392" y="2023690"/>
            <a:ext cx="0" cy="527075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0479" y="2130065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42982" y="2152568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828" dirty="0"/>
          </a:p>
        </p:txBody>
      </p:sp>
      <p:sp>
        <p:nvSpPr>
          <p:cNvPr id="23" name="Text 21"/>
          <p:cNvSpPr/>
          <p:nvPr/>
        </p:nvSpPr>
        <p:spPr>
          <a:xfrm>
            <a:off x="1650278" y="2123703"/>
            <a:ext cx="1370189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350" b="1" spc="-13" kern="0" dirty="0">
                <a:solidFill>
                  <a:srgbClr val="1B3A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20,531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912226" y="2326518"/>
            <a:ext cx="1108241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ژن در هر نمونه RNA-Seq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636490"/>
            <a:ext cx="3120479" cy="527075"/>
          </a:xfrm>
          <a:prstGeom prst="roundRect">
            <a:avLst>
              <a:gd name="adj" fmla="val 18071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563392" y="2636490"/>
            <a:ext cx="0" cy="527075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0479" y="2742865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142982" y="2765368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828" dirty="0"/>
          </a:p>
        </p:txBody>
      </p:sp>
      <p:sp>
        <p:nvSpPr>
          <p:cNvPr id="29" name="Text 27"/>
          <p:cNvSpPr/>
          <p:nvPr/>
        </p:nvSpPr>
        <p:spPr>
          <a:xfrm>
            <a:off x="1601993" y="2736503"/>
            <a:ext cx="1418474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350" b="1" spc="-13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نوع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968282" y="2939318"/>
            <a:ext cx="1052185" cy="124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سرطان قابل طبقه‌بندی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638812" y="587273"/>
            <a:ext cx="1070848" cy="268491"/>
          </a:xfrm>
          <a:prstGeom prst="roundRect">
            <a:avLst>
              <a:gd name="adj" fmla="val 21286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633508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642938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61684" y="651867"/>
            <a:ext cx="5402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بیان مسئله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" y="900113"/>
            <a:ext cx="86360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چالش‌های داده‌های بیان ژن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25372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1410891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چرا طبقه‌بندی RNA-Seq دشوار است؟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4625578" y="1735931"/>
            <a:ext cx="4057650" cy="935831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86380" y="1839516"/>
            <a:ext cx="364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CH-01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43450" y="1839516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BEA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5238" y="186130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039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4757738" y="1853803"/>
            <a:ext cx="3793331" cy="208312"/>
          </a:xfrm>
          <a:prstGeom prst="rect">
            <a:avLst/>
          </a:prstGeom>
          <a:noFill/>
          <a:ln/>
        </p:spPr>
        <p:txBody>
          <a:bodyPr wrap="none" lIns="357188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ابعاد بالا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757738" y="2089547"/>
            <a:ext cx="379333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تعداد بسیار زیاد ویژگی‌ها (بیش از ۲۰ هزار ژن) که تحلیل و انتخاب ویژگی را پیچیده می‌کند.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1735931"/>
            <a:ext cx="4057650" cy="935831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21574" y="1839516"/>
            <a:ext cx="364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CH-02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8644" y="1839516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BEA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0432" y="186130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039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592931" y="1853803"/>
            <a:ext cx="3793331" cy="208312"/>
          </a:xfrm>
          <a:prstGeom prst="rect">
            <a:avLst/>
          </a:prstGeom>
          <a:noFill/>
          <a:ln/>
        </p:spPr>
        <p:txBody>
          <a:bodyPr wrap="none" lIns="357188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نمونه محدود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592931" y="2089547"/>
            <a:ext cx="379333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تعداد نمونه نسبتاً کم (۸۰۱ نمونه) نسبت به تعداد ژن‌ها که خطر Overfitting را افزایش می‌دهد.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5578" y="2778919"/>
            <a:ext cx="4057650" cy="935831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86380" y="2882503"/>
            <a:ext cx="364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CH-03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43450" y="288250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BEA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65238" y="290429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039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4757738" y="2896791"/>
            <a:ext cx="3793331" cy="208312"/>
          </a:xfrm>
          <a:prstGeom prst="rect">
            <a:avLst/>
          </a:prstGeom>
          <a:noFill/>
          <a:ln/>
        </p:spPr>
        <p:txBody>
          <a:bodyPr wrap="none" lIns="357188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همبستگی ژن‌ها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4757738" y="3132534"/>
            <a:ext cx="37933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همبستگی بالا بین ژن‌ها موجب Multicollinearity و کاهش پایداری مدل می‌شود.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0772" y="2778919"/>
            <a:ext cx="4057650" cy="935831"/>
          </a:xfrm>
          <a:prstGeom prst="roundRect">
            <a:avLst>
              <a:gd name="adj" fmla="val 1221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21574" y="2882503"/>
            <a:ext cx="364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CH-04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8644" y="2882503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FBEA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00432" y="290429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039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592931" y="2896791"/>
            <a:ext cx="3793331" cy="208312"/>
          </a:xfrm>
          <a:prstGeom prst="rect">
            <a:avLst/>
          </a:prstGeom>
          <a:noFill/>
          <a:ln/>
        </p:spPr>
        <p:txBody>
          <a:bodyPr wrap="none" lIns="357188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خطر Overfitting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592931" y="3132534"/>
            <a:ext cx="379333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نسبت بالای ویژگی به نمونه، احتمال بیش‌برازش مدل‌های یادگیری ماشین را بالا می‌برد.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3818334"/>
            <a:ext cx="8229600" cy="428625"/>
          </a:xfrm>
          <a:prstGeom prst="roundRect">
            <a:avLst>
              <a:gd name="adj" fmla="val 22222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672513" y="3818334"/>
            <a:ext cx="0" cy="428625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90942" y="3904059"/>
            <a:ext cx="63869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7437124" y="3968353"/>
            <a:ext cx="3680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b="1" spc="34" kern="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راه‌حل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81264" y="3954959"/>
            <a:ext cx="3788197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انتخاب ویژگی (Feature Selection) + اعتبارسنجی متقاطع (Cross-Validation)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695962" y="587273"/>
            <a:ext cx="1013698" cy="268491"/>
          </a:xfrm>
          <a:prstGeom prst="roundRect">
            <a:avLst>
              <a:gd name="adj" fmla="val 21286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633508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642938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18834" y="651867"/>
            <a:ext cx="48309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هدف پژوهش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900113"/>
            <a:ext cx="86360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اهداف مطالعه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25372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0565" y="1482328"/>
            <a:ext cx="4526235" cy="1778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392"/>
              </a:lnSpc>
              <a:spcAft>
                <a:spcPts val="675"/>
              </a:spcAft>
              <a:buSzPct val="100000"/>
              <a:buFont typeface="+mj-lt"/>
              <a:buAutoNum type="arabicPeriod" startAt="1"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طبقه‌بندی ۵ نوع سرطان با استفاده از داده‌های RNA-Seq </a:t>
            </a:r>
            <a:pPr algn="r" indent="0" marL="0">
              <a:lnSpc>
                <a:spcPts val="1392"/>
              </a:lnSpc>
              <a:spcAft>
                <a:spcPts val="675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BRCA, KIRC, COAD, LUAD, PRAD</a:t>
            </a:r>
            <a:endParaRPr lang="en-US" sz="844" dirty="0"/>
          </a:p>
          <a:p>
            <a:pPr algn="r" marL="342900" indent="-342900">
              <a:lnSpc>
                <a:spcPts val="1392"/>
              </a:lnSpc>
              <a:spcAft>
                <a:spcPts val="675"/>
              </a:spcAft>
              <a:buSzPct val="100000"/>
              <a:buFont typeface="+mj-lt"/>
              <a:buAutoNum type="arabicPeriod" startAt="1"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شناسایی ژن‌های مهم و اثرگذار (بیومارکرها) </a:t>
            </a:r>
            <a:pPr algn="r" indent="0" marL="0">
              <a:lnSpc>
                <a:spcPts val="1392"/>
              </a:lnSpc>
              <a:spcAft>
                <a:spcPts val="675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کاهش از ۲۰۵۳۱ ژن به مجموعه‌ای کوچک و تفسیرپذیر</a:t>
            </a:r>
            <a:endParaRPr lang="en-US" sz="844" dirty="0"/>
          </a:p>
          <a:p>
            <a:pPr algn="r" marL="342900" indent="-342900">
              <a:lnSpc>
                <a:spcPts val="1392"/>
              </a:lnSpc>
              <a:spcAft>
                <a:spcPts val="675"/>
              </a:spcAft>
              <a:buSzPct val="100000"/>
              <a:buFont typeface="+mj-lt"/>
              <a:buAutoNum type="arabicPeriod" startAt="1"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مقایسه چند الگوریتم یادگیری ماشین </a:t>
            </a:r>
            <a:pPr algn="r" indent="0" marL="0">
              <a:lnSpc>
                <a:spcPts val="1392"/>
              </a:lnSpc>
              <a:spcAft>
                <a:spcPts val="675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هشت مدل طبقه‌بندی شامل SVM، KNN، ANN، RF و غیره</a:t>
            </a:r>
            <a:endParaRPr lang="en-US" sz="844" dirty="0"/>
          </a:p>
          <a:p>
            <a:pPr algn="r" marL="342900" indent="-342900">
              <a:lnSpc>
                <a:spcPts val="1392"/>
              </a:lnSpc>
              <a:spcAft>
                <a:spcPts val="675"/>
              </a:spcAft>
              <a:buSzPct val="100000"/>
              <a:buFont typeface="+mj-lt"/>
              <a:buAutoNum type="arabicPeriod" startAt="1"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انتخاب بهترین مدل طبقه‌بندی </a:t>
            </a:r>
            <a:pPr algn="r" indent="0" marL="0">
              <a:lnSpc>
                <a:spcPts val="1392"/>
              </a:lnSpc>
              <a:spcAft>
                <a:spcPts val="675"/>
              </a:spcAft>
              <a:buNone/>
            </a:pPr>
            <a:r>
              <a:rPr lang="en-US" sz="844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بر اساس دقت و پایداری در Cross-Validation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457200" y="1439466"/>
            <a:ext cx="3531915" cy="2714625"/>
          </a:xfrm>
          <a:prstGeom prst="roundRect">
            <a:avLst>
              <a:gd name="adj" fmla="val 3509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74827" y="1439466"/>
            <a:ext cx="0" cy="2714625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2969" y="1596628"/>
            <a:ext cx="92612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1666252" y="1618059"/>
            <a:ext cx="11252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معیار موفقیت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628650" y="1932384"/>
            <a:ext cx="3160440" cy="435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۹۹.۸۷٪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065870" y="2395277"/>
            <a:ext cx="228600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بالاترین دقت به‌دست‌آمده با SVM در 5-Fold Cross-Validation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8650" y="3675459"/>
            <a:ext cx="3160440" cy="7144"/>
          </a:xfrm>
          <a:prstGeom prst="rect">
            <a:avLst/>
          </a:prstGeom>
          <a:solidFill>
            <a:srgbClr val="16A085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32449" y="3769814"/>
            <a:ext cx="362617" cy="239916"/>
          </a:xfrm>
          <a:prstGeom prst="roundRect">
            <a:avLst>
              <a:gd name="adj" fmla="val 3966169"/>
            </a:avLst>
          </a:prstGeom>
          <a:solidFill>
            <a:srgbClr val="E7EEF8"/>
          </a:solidFill>
          <a:ln w="7144">
            <a:solidFill>
              <a:srgbClr val="D6E0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45879" y="3782616"/>
            <a:ext cx="335756" cy="21431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دقت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31516" y="3769814"/>
            <a:ext cx="578644" cy="239916"/>
          </a:xfrm>
          <a:prstGeom prst="roundRect">
            <a:avLst>
              <a:gd name="adj" fmla="val 3966169"/>
            </a:avLst>
          </a:prstGeom>
          <a:solidFill>
            <a:srgbClr val="E6F5F1"/>
          </a:solidFill>
          <a:ln w="7144">
            <a:solidFill>
              <a:srgbClr val="C5E5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52948" y="3782616"/>
            <a:ext cx="535781" cy="21431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پایداری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13244" y="3769814"/>
            <a:ext cx="805413" cy="239916"/>
          </a:xfrm>
          <a:prstGeom prst="roundRect">
            <a:avLst>
              <a:gd name="adj" fmla="val 3966169"/>
            </a:avLst>
          </a:prstGeom>
          <a:solidFill>
            <a:srgbClr val="E7EEF8"/>
          </a:solidFill>
          <a:ln w="7144">
            <a:solidFill>
              <a:srgbClr val="D6E0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36104" y="3782616"/>
            <a:ext cx="759693" cy="214313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قابلیت تفسیر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524512" y="587273"/>
            <a:ext cx="1185148" cy="268491"/>
          </a:xfrm>
          <a:prstGeom prst="roundRect">
            <a:avLst>
              <a:gd name="adj" fmla="val 21286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633508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642938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47384" y="651867"/>
            <a:ext cx="654546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معرفی داده‌ها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900113"/>
            <a:ext cx="8636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داده‌های RNA-Seq مورد استفاده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253728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71426" y="1510903"/>
            <a:ext cx="5015374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مشخصات کلی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411042" y="1735931"/>
            <a:ext cx="4272186" cy="151447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28914" y="2064544"/>
            <a:ext cx="40364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971303" y="1860947"/>
            <a:ext cx="5940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منبع داده: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28914" y="1846659"/>
            <a:ext cx="35152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UCI / TCGA (PANCAN)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28914" y="2350294"/>
            <a:ext cx="40364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094583" y="2146697"/>
            <a:ext cx="4707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پلتفرم: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28914" y="2132409"/>
            <a:ext cx="36543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Illumina HiSeq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28914" y="2636044"/>
            <a:ext cx="40364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703384" y="2432447"/>
            <a:ext cx="8619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تعداد نمونه‌ها: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28914" y="2418159"/>
            <a:ext cx="4849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2" name="Shape 20"/>
          <p:cNvSpPr/>
          <p:nvPr/>
        </p:nvSpPr>
        <p:spPr>
          <a:xfrm>
            <a:off x="4528914" y="2921794"/>
            <a:ext cx="40364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904323" y="2718197"/>
            <a:ext cx="6610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تعداد ژن‌ها: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28914" y="2703909"/>
            <a:ext cx="34581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20,531 ژن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37343" y="3003947"/>
            <a:ext cx="728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تعداد کلاس‌ها: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28914" y="2989659"/>
            <a:ext cx="5699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27" name="Text 25"/>
          <p:cNvSpPr/>
          <p:nvPr/>
        </p:nvSpPr>
        <p:spPr>
          <a:xfrm>
            <a:off x="3671426" y="3353991"/>
            <a:ext cx="501537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انواع سرطان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7852678" y="3591220"/>
            <a:ext cx="856982" cy="245274"/>
          </a:xfrm>
          <a:prstGeom prst="roundRect">
            <a:avLst>
              <a:gd name="adj" fmla="val 3879529"/>
            </a:avLst>
          </a:prstGeom>
          <a:solidFill>
            <a:srgbClr val="E7EEF8"/>
          </a:solidFill>
          <a:ln w="7144">
            <a:solidFill>
              <a:srgbClr val="D6E0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75538" y="3604022"/>
            <a:ext cx="811262" cy="219670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BRCA — سینه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23891" y="3591220"/>
            <a:ext cx="817357" cy="245274"/>
          </a:xfrm>
          <a:prstGeom prst="roundRect">
            <a:avLst>
              <a:gd name="adj" fmla="val 3879529"/>
            </a:avLst>
          </a:prstGeom>
          <a:solidFill>
            <a:srgbClr val="E6F5F1"/>
          </a:solidFill>
          <a:ln w="7144">
            <a:solidFill>
              <a:srgbClr val="C5E5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46751" y="3604022"/>
            <a:ext cx="771637" cy="219670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KIRC — کلیه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93306" y="3591220"/>
            <a:ext cx="919155" cy="245274"/>
          </a:xfrm>
          <a:prstGeom prst="roundRect">
            <a:avLst>
              <a:gd name="adj" fmla="val 3879529"/>
            </a:avLst>
          </a:prstGeom>
          <a:solidFill>
            <a:srgbClr val="E7EEF8"/>
          </a:solidFill>
          <a:ln w="7144">
            <a:solidFill>
              <a:srgbClr val="D6E0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16166" y="3604022"/>
            <a:ext cx="873435" cy="219670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COAD — کولون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91978" y="3591220"/>
            <a:ext cx="789898" cy="245274"/>
          </a:xfrm>
          <a:prstGeom prst="roundRect">
            <a:avLst>
              <a:gd name="adj" fmla="val 3879529"/>
            </a:avLst>
          </a:prstGeom>
          <a:solidFill>
            <a:srgbClr val="E6F5F1"/>
          </a:solidFill>
          <a:ln w="7144">
            <a:solidFill>
              <a:srgbClr val="C5E5D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14838" y="3604022"/>
            <a:ext cx="744178" cy="219670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LUAD — ریه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86139" y="3868041"/>
            <a:ext cx="1023521" cy="245274"/>
          </a:xfrm>
          <a:prstGeom prst="roundRect">
            <a:avLst>
              <a:gd name="adj" fmla="val 3879529"/>
            </a:avLst>
          </a:prstGeom>
          <a:solidFill>
            <a:srgbClr val="E7EEF8"/>
          </a:solidFill>
          <a:ln w="7144">
            <a:solidFill>
              <a:srgbClr val="D6E0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708999" y="3880842"/>
            <a:ext cx="977801" cy="219670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PRAD — پروستات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0772" y="1414463"/>
            <a:ext cx="3771677" cy="2993231"/>
          </a:xfrm>
          <a:prstGeom prst="roundRect">
            <a:avLst>
              <a:gd name="adj" fmla="val 381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0" descr="/tmp/h2p-fit-1781944725428-i8nm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546845"/>
            <a:ext cx="3650233" cy="272846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57200" y="4454128"/>
            <a:ext cx="377882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شکل ۱ — فراوانی هر نوع سرطان در مجموعه داده PANCAN (منبع: مقاله)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42888"/>
          </a:xfrm>
          <a:prstGeom prst="roundRect">
            <a:avLst>
              <a:gd name="adj" fmla="val 23529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490633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500063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30012" y="508992"/>
            <a:ext cx="167191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انتخاب ویژگی (Feature Selection)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757238"/>
            <a:ext cx="8636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کاهش ابعاد با روش‌های منظم‌سازی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11085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0565" y="1268016"/>
            <a:ext cx="4526235" cy="36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برای کاهش ابعاد داده‌های RNA-Seq و رفع خطر Overfitting، از سه روش انتخاب ویژگی مکمل هم استفاده شد: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60565" y="1697980"/>
            <a:ext cx="4526235" cy="704999"/>
          </a:xfrm>
          <a:prstGeom prst="roundRect">
            <a:avLst>
              <a:gd name="adj" fmla="val 162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60565" y="1701552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2513" y="1697980"/>
            <a:ext cx="0" cy="704999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65" y="2399407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4137" y="1697980"/>
            <a:ext cx="0" cy="70499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7721" y="1790849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82366" y="180549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8306361" y="1799921"/>
            <a:ext cx="248536" cy="164021"/>
          </a:xfrm>
          <a:prstGeom prst="roundRect">
            <a:avLst>
              <a:gd name="adj" fmla="val 580137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317334" y="1808708"/>
            <a:ext cx="226591" cy="146447"/>
          </a:xfrm>
          <a:prstGeom prst="rect">
            <a:avLst/>
          </a:prstGeom>
          <a:noFill/>
          <a:ln/>
        </p:spPr>
        <p:txBody>
          <a:bodyPr wrap="none" lIns="64294" tIns="14288" rIns="64294" bIns="14288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52404" y="1790849"/>
            <a:ext cx="130778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Lasso Regression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4596333" y="2001589"/>
            <a:ext cx="394759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جریمه L1 — برخی ضرایب را دقیقاً به صفر می‌رساند و انتخاب ویژگی خودکار انجام می‌دهد. مناسب داده‌های پر‌بعد ژنومی.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60565" y="2474416"/>
            <a:ext cx="4526235" cy="704999"/>
          </a:xfrm>
          <a:prstGeom prst="roundRect">
            <a:avLst>
              <a:gd name="adj" fmla="val 162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160565" y="2477988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72513" y="2474416"/>
            <a:ext cx="0" cy="704999"/>
          </a:xfrm>
          <a:prstGeom prst="line">
            <a:avLst/>
          </a:prstGeom>
          <a:noFill/>
          <a:ln w="28575">
            <a:solidFill>
              <a:srgbClr val="2E5B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0565" y="3175843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4137" y="2474416"/>
            <a:ext cx="0" cy="70499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67721" y="2567285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82366" y="258193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5BA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8306361" y="2576358"/>
            <a:ext cx="248536" cy="164021"/>
          </a:xfrm>
          <a:prstGeom prst="roundRect">
            <a:avLst>
              <a:gd name="adj" fmla="val 5801376"/>
            </a:avLst>
          </a:prstGeom>
          <a:solidFill>
            <a:srgbClr val="2E5B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317334" y="2585145"/>
            <a:ext cx="226591" cy="146447"/>
          </a:xfrm>
          <a:prstGeom prst="rect">
            <a:avLst/>
          </a:prstGeom>
          <a:noFill/>
          <a:ln/>
        </p:spPr>
        <p:txBody>
          <a:bodyPr wrap="none" lIns="64294" tIns="14288" rIns="64294" bIns="14288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69426" y="2567285"/>
            <a:ext cx="129075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Ridge Regression</a:t>
            </a:r>
            <a:endParaRPr lang="en-US" sz="956" dirty="0"/>
          </a:p>
        </p:txBody>
      </p:sp>
      <p:sp>
        <p:nvSpPr>
          <p:cNvPr id="33" name="Text 31"/>
          <p:cNvSpPr/>
          <p:nvPr/>
        </p:nvSpPr>
        <p:spPr>
          <a:xfrm>
            <a:off x="4596333" y="2778026"/>
            <a:ext cx="3947592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جریمه L2 — ضرایب بزرگ را تنبیه می‌کند و Multicollinearity را کاهش می‌دهد. پایداری مدل را بالا می‌برد.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60565" y="3250853"/>
            <a:ext cx="4526235" cy="550738"/>
          </a:xfrm>
          <a:prstGeom prst="roundRect">
            <a:avLst>
              <a:gd name="adj" fmla="val 207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160565" y="3254425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2513" y="3250853"/>
            <a:ext cx="0" cy="550738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565" y="3798019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64137" y="3250853"/>
            <a:ext cx="0" cy="5507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67721" y="3343721"/>
            <a:ext cx="257175" cy="257175"/>
          </a:xfrm>
          <a:prstGeom prst="roundRect">
            <a:avLst>
              <a:gd name="adj" fmla="val 29630"/>
            </a:avLst>
          </a:prstGeom>
          <a:solidFill>
            <a:srgbClr val="FBEA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282366" y="335836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C0392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8293302" y="3352794"/>
            <a:ext cx="261596" cy="164021"/>
          </a:xfrm>
          <a:prstGeom prst="roundRect">
            <a:avLst>
              <a:gd name="adj" fmla="val 5801376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04275" y="3361581"/>
            <a:ext cx="239650" cy="146447"/>
          </a:xfrm>
          <a:prstGeom prst="rect">
            <a:avLst/>
          </a:prstGeom>
          <a:noFill/>
          <a:ln/>
        </p:spPr>
        <p:txBody>
          <a:bodyPr wrap="none" lIns="64294" tIns="14288" rIns="64294" bIns="14288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RF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73245" y="3343721"/>
            <a:ext cx="197388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Forest Importance</a:t>
            </a:r>
            <a:endParaRPr lang="en-US" sz="956" dirty="0"/>
          </a:p>
        </p:txBody>
      </p:sp>
      <p:sp>
        <p:nvSpPr>
          <p:cNvPr id="44" name="Text 42"/>
          <p:cNvSpPr/>
          <p:nvPr/>
        </p:nvSpPr>
        <p:spPr>
          <a:xfrm>
            <a:off x="4596333" y="3554462"/>
            <a:ext cx="3947592" cy="154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اهمیت ویژگی بر اساس کاهش ناخالصی Gini در درختان جنگل. شناسایی ژن‌های اثرگذار.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0772" y="1848892"/>
            <a:ext cx="3524771" cy="2160761"/>
          </a:xfrm>
          <a:prstGeom prst="roundRect">
            <a:avLst>
              <a:gd name="adj" fmla="val 529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F1B2E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0" descr="/tmp/h2p-fit-1781944720616-k397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909614"/>
            <a:ext cx="3403327" cy="2039317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457200" y="4056087"/>
            <a:ext cx="3531915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شکل ۲ — پایپ‌لاین تحلیل: از داده خام تا طبقه‌بندی (منبع: مقاله)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42888"/>
          </a:xfrm>
          <a:prstGeom prst="roundRect">
            <a:avLst>
              <a:gd name="adj" fmla="val 23529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490633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500063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094330" y="508992"/>
            <a:ext cx="1207601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فرآیند انتخاب ژن‌ها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" y="757238"/>
            <a:ext cx="86360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از ۲۰,۵۳۱ ژن به ۱۰۶ ژن کلیدی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11085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3504" y="1296591"/>
            <a:ext cx="4493296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مراحل کاهش ویژگی‌ها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407471" y="1546622"/>
            <a:ext cx="4279329" cy="162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ts val="1264"/>
              </a:lnSpc>
              <a:spcAft>
                <a:spcPts val="450"/>
              </a:spcAft>
              <a:buSzPct val="100000"/>
              <a:buFont typeface="+mj-lt"/>
              <a:buAutoNum type="arabicPeriod" startAt="1"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انتخاب ۲۵۰ ژن برتر با Lasso و Ridge </a:t>
            </a:r>
            <a:pPr algn="r" indent="0" marL="0">
              <a:lnSpc>
                <a:spcPts val="1264"/>
              </a:lnSpc>
              <a:spcAft>
                <a:spcPts val="450"/>
              </a:spcAft>
              <a:buNone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شناسایی ژن‌های با بیشترین اهمیت توسط هر روش</a:t>
            </a:r>
            <a:endParaRPr lang="en-US" sz="816" dirty="0"/>
          </a:p>
          <a:p>
            <a:pPr algn="r" marL="342900" indent="-342900">
              <a:lnSpc>
                <a:spcPts val="1264"/>
              </a:lnSpc>
              <a:spcAft>
                <a:spcPts val="450"/>
              </a:spcAft>
              <a:buSzPct val="100000"/>
              <a:buFont typeface="+mj-lt"/>
              <a:buAutoNum type="arabicPeriod" startAt="1"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بررسی همپوشانی با نتایج Random Forest </a:t>
            </a:r>
            <a:pPr algn="r" indent="0" marL="0">
              <a:lnSpc>
                <a:spcPts val="1264"/>
              </a:lnSpc>
              <a:spcAft>
                <a:spcPts val="450"/>
              </a:spcAft>
              <a:buNone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اشتراک‌گیری با ۲۵۰ ژن برتر RF</a:t>
            </a:r>
            <a:endParaRPr lang="en-US" sz="816" dirty="0"/>
          </a:p>
          <a:p>
            <a:pPr algn="r" marL="342900" indent="-342900">
              <a:lnSpc>
                <a:spcPts val="1264"/>
              </a:lnSpc>
              <a:spcAft>
                <a:spcPts val="450"/>
              </a:spcAft>
              <a:buSzPct val="100000"/>
              <a:buFont typeface="+mj-lt"/>
              <a:buAutoNum type="arabicPeriod" startAt="1"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انتخاب ۱۰۶ ژن مشترک </a:t>
            </a:r>
            <a:pPr algn="r" indent="0" marL="0">
              <a:lnSpc>
                <a:spcPts val="1264"/>
              </a:lnSpc>
              <a:spcAft>
                <a:spcPts val="450"/>
              </a:spcAft>
              <a:buNone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تنها ژن‌هایی که حداقل توسط دو روش انتخاب شده‌اند</a:t>
            </a:r>
            <a:endParaRPr lang="en-US" sz="816" dirty="0"/>
          </a:p>
          <a:p>
            <a:pPr algn="r" marL="342900" indent="-342900">
              <a:lnSpc>
                <a:spcPts val="1264"/>
              </a:lnSpc>
              <a:spcAft>
                <a:spcPts val="450"/>
              </a:spcAft>
              <a:buSzPct val="100000"/>
              <a:buFont typeface="+mj-lt"/>
              <a:buAutoNum type="arabicPeriod" startAt="1"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استفاده از این ۱۰۶ ژن برای آموزش مدل‌ها </a:t>
            </a:r>
            <a:pPr algn="r" indent="0" marL="0">
              <a:lnSpc>
                <a:spcPts val="1264"/>
              </a:lnSpc>
              <a:spcAft>
                <a:spcPts val="450"/>
              </a:spcAft>
              <a:buNone/>
            </a:pPr>
            <a:r>
              <a:rPr lang="en-US" sz="816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مجموعه نهایی ویژگی‌ها برای همه الگوریتم‌ها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4407471" y="3099495"/>
            <a:ext cx="4279329" cy="407194"/>
          </a:xfrm>
          <a:prstGeom prst="roundRect">
            <a:avLst>
              <a:gd name="adj" fmla="val 23392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672513" y="3099495"/>
            <a:ext cx="0" cy="407194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37277" y="3185220"/>
            <a:ext cx="50664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4825268" y="3228082"/>
            <a:ext cx="31405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نتیجه: مجموعه داده نهایی شامل </a:t>
            </a:r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۸۰۱ نمونه</a:t>
            </a:r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× </a:t>
            </a:r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۱۰۶ ژن</a:t>
            </a:r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× </a:t>
            </a:r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۵ کلاس</a:t>
            </a:r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سرطان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0772" y="1368363"/>
            <a:ext cx="3771677" cy="3121819"/>
          </a:xfrm>
          <a:prstGeom prst="roundRect">
            <a:avLst>
              <a:gd name="adj" fmla="val 366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9525" dir="5400000">
              <a:srgbClr val="0F1B2E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/tmp/h2p-fit-1781944720877-4vo4t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4" y="1429085"/>
            <a:ext cx="3650233" cy="300037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4536616"/>
            <a:ext cx="3778821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شکل ۴ — (A) ۳۰ ژن برتر Ridge (B) ۳۰ ژن برتر Lasso (C) ژن‌های مشترک (منبع: مقاله)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42888"/>
          </a:xfrm>
          <a:prstGeom prst="roundRect">
            <a:avLst>
              <a:gd name="adj" fmla="val 23529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490633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500063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12248" y="508992"/>
            <a:ext cx="138968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الگوریتم‌های طبقه‌بندی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757238"/>
            <a:ext cx="8636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هشت مدل یادگیری ماشین بررسی‌شده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11085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239441"/>
            <a:ext cx="8229600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عملکرد هشت طبقه‌بندهای متفاوت از خانواده‌های یادگیری ماشین روی مجموعه ۱۰۶ ژن ارزیابی شد: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07981" y="1502978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38442" y="160656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71303" y="16394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6797278" y="1978037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SVM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7169568" y="2167347"/>
            <a:ext cx="105218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ماشین بردار پشتیبان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25578" y="1502978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56039" y="160656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88900" y="16394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4714875" y="1978037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KNN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5117787" y="2167347"/>
            <a:ext cx="99083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k-نزدیک‌ترین همسایه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43175" y="1502978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73636" y="160656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06497" y="16394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2632472" y="1978037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ANN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3092673" y="2167347"/>
            <a:ext cx="8763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شبکه عصبی مصنوعی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0772" y="1502978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291233" y="1606562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24094" y="16394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550069" y="1978037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Forest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1141361" y="2167347"/>
            <a:ext cx="6140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جنگل تصادفی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07981" y="2498080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38442" y="2601664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571303" y="263452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6797278" y="2973139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 Tree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7417874" y="3162449"/>
            <a:ext cx="55546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درخت تصمیم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25578" y="2498080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56039" y="2601664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488900" y="263452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0" name="Text 38"/>
          <p:cNvSpPr/>
          <p:nvPr/>
        </p:nvSpPr>
        <p:spPr>
          <a:xfrm>
            <a:off x="4714875" y="2973139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AdaBoost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5188953" y="3162449"/>
            <a:ext cx="84849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بسته‌بندی تطبیقی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43175" y="2498080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73636" y="2601664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406497" y="263452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5" name="Text 43"/>
          <p:cNvSpPr/>
          <p:nvPr/>
        </p:nvSpPr>
        <p:spPr>
          <a:xfrm>
            <a:off x="2632472" y="2973139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Naïve Bayes</a:t>
            </a:r>
            <a:endParaRPr lang="en-US" sz="844" dirty="0"/>
          </a:p>
        </p:txBody>
      </p:sp>
      <p:sp>
        <p:nvSpPr>
          <p:cNvPr id="46" name="Text 44"/>
          <p:cNvSpPr/>
          <p:nvPr/>
        </p:nvSpPr>
        <p:spPr>
          <a:xfrm>
            <a:off x="3291483" y="3162449"/>
            <a:ext cx="47863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بیز ساده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0772" y="2498080"/>
            <a:ext cx="1975247" cy="887946"/>
          </a:xfrm>
          <a:prstGeom prst="roundRect">
            <a:avLst>
              <a:gd name="adj" fmla="val 1287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91233" y="2601664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324094" y="263452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50" name="Text 48"/>
          <p:cNvSpPr/>
          <p:nvPr/>
        </p:nvSpPr>
        <p:spPr>
          <a:xfrm>
            <a:off x="550069" y="2973139"/>
            <a:ext cx="179665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8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QDA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815740" y="3162449"/>
            <a:ext cx="1265422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تحلیل تفکیک‌کننده درجه دوم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3475323"/>
            <a:ext cx="8229600" cy="407194"/>
          </a:xfrm>
          <a:prstGeom prst="roundRect">
            <a:avLst>
              <a:gd name="adj" fmla="val 23392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8672513" y="3475323"/>
            <a:ext cx="0" cy="407194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79011" y="3561048"/>
            <a:ext cx="55062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547" dirty="0"/>
          </a:p>
        </p:txBody>
      </p:sp>
      <p:sp>
        <p:nvSpPr>
          <p:cNvPr id="55" name="Text 53"/>
          <p:cNvSpPr/>
          <p:nvPr/>
        </p:nvSpPr>
        <p:spPr>
          <a:xfrm>
            <a:off x="4175968" y="3603910"/>
            <a:ext cx="37316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B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هر مدل با همان مجموعه ۱۰۶ ژن آموزش داده شد تا مقایسه منصفانه‌ای فراهم شود.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42888"/>
          </a:xfrm>
          <a:prstGeom prst="roundRect">
            <a:avLst>
              <a:gd name="adj" fmla="val 23529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490633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500063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12310" y="508992"/>
            <a:ext cx="88962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ارزیابی مدل‌ها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757238"/>
            <a:ext cx="8636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استراتژی ارزیابی و اعتبارسنجی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11085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34253" y="1296591"/>
            <a:ext cx="475254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دو رویکرد اعتبارسنجی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160565" y="1560909"/>
            <a:ext cx="4526235" cy="562905"/>
          </a:xfrm>
          <a:prstGeom prst="roundRect">
            <a:avLst>
              <a:gd name="adj" fmla="val 203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60565" y="1564481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2513" y="1560909"/>
            <a:ext cx="0" cy="562905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65" y="2120243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4137" y="1560909"/>
            <a:ext cx="0" cy="56290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8175" y="1668066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87107" y="169699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4995569" y="1668066"/>
            <a:ext cx="3176881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Split Validation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46849" y="1868091"/>
            <a:ext cx="3025601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تقسیم 70٪ آموزش / 30٪ آزمون. ارزیابی سریع و اولیه عملکرد مدل.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60565" y="2209540"/>
            <a:ext cx="4526235" cy="711473"/>
          </a:xfrm>
          <a:prstGeom prst="roundRect">
            <a:avLst>
              <a:gd name="adj" fmla="val 160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160565" y="2213111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72513" y="2209540"/>
            <a:ext cx="0" cy="711473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0565" y="2917441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4137" y="2209540"/>
            <a:ext cx="0" cy="71147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8175" y="2316696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287107" y="234562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4282008" y="2316696"/>
            <a:ext cx="3890442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6A0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5-Fold Cross-Validation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82008" y="2516721"/>
            <a:ext cx="3890442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داده به ۵ بخش مساوی تقسیم می‌شود؛ هر بار یک بخش به عنوان آزمون و چهار بخش به عنوان آموزش. کاهش Overfitting و افزایش پایداری.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80604" y="1296591"/>
            <a:ext cx="370851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معیارهای ارزیابی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460772" y="1564481"/>
            <a:ext cx="3524771" cy="1651099"/>
          </a:xfrm>
          <a:prstGeom prst="roundRect">
            <a:avLst>
              <a:gd name="adj" fmla="val 6923"/>
            </a:avLst>
          </a:prstGeom>
          <a:solidFill>
            <a:srgbClr val="F6F8FB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269592" y="1714500"/>
            <a:ext cx="1565932" cy="59025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60080" y="1826568"/>
            <a:ext cx="7861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4" name="Text 32"/>
          <p:cNvSpPr/>
          <p:nvPr/>
        </p:nvSpPr>
        <p:spPr>
          <a:xfrm>
            <a:off x="2358889" y="1803797"/>
            <a:ext cx="544041" cy="285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دقت (Accuracy)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58889" y="2092226"/>
            <a:ext cx="138733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نسبت پیش‌بینی‌های درست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0791" y="1714500"/>
            <a:ext cx="1565932" cy="59025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285205" y="1803797"/>
            <a:ext cx="8022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38" name="Text 36"/>
          <p:cNvSpPr/>
          <p:nvPr/>
        </p:nvSpPr>
        <p:spPr>
          <a:xfrm>
            <a:off x="700088" y="1845990"/>
            <a:ext cx="527968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Error Rate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0088" y="2046684"/>
            <a:ext cx="13873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نسبت پیش‌بینی‌های نادرست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69592" y="2397621"/>
            <a:ext cx="1565932" cy="667941"/>
          </a:xfrm>
          <a:prstGeom prst="roundRect">
            <a:avLst>
              <a:gd name="adj" fmla="val 1426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245718" y="2486918"/>
            <a:ext cx="5005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406" dirty="0"/>
          </a:p>
        </p:txBody>
      </p:sp>
      <p:sp>
        <p:nvSpPr>
          <p:cNvPr id="42" name="Text 40"/>
          <p:cNvSpPr/>
          <p:nvPr/>
        </p:nvSpPr>
        <p:spPr>
          <a:xfrm>
            <a:off x="2358889" y="2529111"/>
            <a:ext cx="82968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Precision / Recall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358889" y="2729805"/>
            <a:ext cx="13873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دقت و فراخوانی به‌علاوه F1 Score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0791" y="2397621"/>
            <a:ext cx="1565932" cy="667941"/>
          </a:xfrm>
          <a:prstGeom prst="roundRect">
            <a:avLst>
              <a:gd name="adj" fmla="val 1426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610804" y="2486918"/>
            <a:ext cx="476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46" name="Text 44"/>
          <p:cNvSpPr/>
          <p:nvPr/>
        </p:nvSpPr>
        <p:spPr>
          <a:xfrm>
            <a:off x="700088" y="2529111"/>
            <a:ext cx="853567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Confusion Matrix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0088" y="2729805"/>
            <a:ext cx="1387339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ماتریس درهم‌ریختگی برای تحلیل هر کلاس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0772" y="3322737"/>
            <a:ext cx="3524771" cy="421481"/>
          </a:xfrm>
          <a:prstGeom prst="roundRect">
            <a:avLst>
              <a:gd name="adj" fmla="val 2257628"/>
            </a:avLst>
          </a:prstGeom>
          <a:solidFill>
            <a:srgbClr val="16A085"/>
          </a:solidFill>
          <a:ln w="7144">
            <a:solidFill>
              <a:srgbClr val="16A085"/>
            </a:solidFill>
            <a:prstDash val="solid"/>
          </a:ln>
          <a:effectLst>
            <a:outerShdw sx="100000" sy="100000" kx="0" ky="0" algn="bl" rotWithShape="0" blurRad="57150" dist="19050" dir="5400000">
              <a:srgbClr val="16A085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074268" y="3437037"/>
            <a:ext cx="7934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0" name="Text 48"/>
          <p:cNvSpPr/>
          <p:nvPr/>
        </p:nvSpPr>
        <p:spPr>
          <a:xfrm>
            <a:off x="578644" y="3383459"/>
            <a:ext cx="243847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معیار اصلی انتخاب: بالاترین </a:t>
            </a:r>
            <a:pPr algn="r" indent="0" marL="0">
              <a:lnSpc>
                <a:spcPts val="1181"/>
              </a:lnSpc>
              <a:buNone/>
            </a:pPr>
            <a:r>
              <a:rPr lang="en-US" sz="800" b="1" spc="1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</a:t>
            </a:r>
            <a:pPr algn="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در </a:t>
            </a:r>
            <a:pPr algn="r" indent="0" marL="0">
              <a:lnSpc>
                <a:spcPts val="1181"/>
              </a:lnSpc>
              <a:buNone/>
            </a:pPr>
            <a:r>
              <a:rPr lang="en-US" sz="800" b="1" spc="16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5-Fold CV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8229600" cy="242888"/>
          </a:xfrm>
          <a:prstGeom prst="roundRect">
            <a:avLst>
              <a:gd name="adj" fmla="val 23529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433483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442913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44730" y="451842"/>
            <a:ext cx="4572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نتایج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700088"/>
            <a:ext cx="863600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SVM — پایدارترین و دقیق‌ترین مدل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05370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98466" y="1253728"/>
            <a:ext cx="4888334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دقت در 5-Fold Cross-Validation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160565" y="1503759"/>
            <a:ext cx="4526235" cy="692944"/>
          </a:xfrm>
          <a:prstGeom prst="roundRect">
            <a:avLst>
              <a:gd name="adj" fmla="val 164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60565" y="1507331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2513" y="1503759"/>
            <a:ext cx="0" cy="692944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65" y="2193131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4137" y="1503759"/>
            <a:ext cx="0" cy="6929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2579" y="1628775"/>
            <a:ext cx="39134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82008" y="1596628"/>
            <a:ext cx="508099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۹۹.۸۷٪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4282008" y="1875234"/>
            <a:ext cx="4261917" cy="71438"/>
          </a:xfrm>
          <a:prstGeom prst="roundRect">
            <a:avLst>
              <a:gd name="adj" fmla="val 13319907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87589" y="1875234"/>
            <a:ext cx="4256336" cy="71438"/>
          </a:xfrm>
          <a:prstGeom prst="roundRect">
            <a:avLst>
              <a:gd name="adj" fmla="val 1331990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82008" y="1975247"/>
            <a:ext cx="42619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بهترین عملکرد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60565" y="2282428"/>
            <a:ext cx="4526235" cy="692944"/>
          </a:xfrm>
          <a:prstGeom prst="roundRect">
            <a:avLst>
              <a:gd name="adj" fmla="val 164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160565" y="2286000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2513" y="2282428"/>
            <a:ext cx="0" cy="692944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65" y="2971800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4137" y="2282428"/>
            <a:ext cx="0" cy="6929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2579" y="2407444"/>
            <a:ext cx="39134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82008" y="2375297"/>
            <a:ext cx="508099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۹۹.۷۵٪</a:t>
            </a:r>
            <a:endParaRPr lang="en-US" sz="1238" dirty="0"/>
          </a:p>
        </p:txBody>
      </p:sp>
      <p:sp>
        <p:nvSpPr>
          <p:cNvPr id="29" name="Text 27"/>
          <p:cNvSpPr/>
          <p:nvPr/>
        </p:nvSpPr>
        <p:spPr>
          <a:xfrm>
            <a:off x="4282008" y="2653903"/>
            <a:ext cx="4261917" cy="71438"/>
          </a:xfrm>
          <a:prstGeom prst="roundRect">
            <a:avLst>
              <a:gd name="adj" fmla="val 13319907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92724" y="2653903"/>
            <a:ext cx="4251201" cy="71438"/>
          </a:xfrm>
          <a:prstGeom prst="roundRect">
            <a:avLst>
              <a:gd name="adj" fmla="val 13319907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82008" y="2753916"/>
            <a:ext cx="42619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نزدیک به SVM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60565" y="3061097"/>
            <a:ext cx="4526235" cy="692944"/>
          </a:xfrm>
          <a:prstGeom prst="roundRect">
            <a:avLst>
              <a:gd name="adj" fmla="val 164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160565" y="3064669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72513" y="3061097"/>
            <a:ext cx="0" cy="692944"/>
          </a:xfrm>
          <a:prstGeom prst="line">
            <a:avLst/>
          </a:prstGeom>
          <a:noFill/>
          <a:ln w="28575">
            <a:solidFill>
              <a:srgbClr val="2E5B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65" y="3750469"/>
            <a:ext cx="452623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4137" y="3061097"/>
            <a:ext cx="0" cy="6929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61467" y="3186113"/>
            <a:ext cx="98245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82008" y="3153966"/>
            <a:ext cx="508099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56"/>
              </a:lnSpc>
              <a:buNone/>
            </a:pPr>
            <a:r>
              <a:rPr lang="en-US" sz="1238" b="1" spc="-12" kern="0" dirty="0">
                <a:solidFill>
                  <a:srgbClr val="2E5B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۹۹.۵۱٪</a:t>
            </a:r>
            <a:endParaRPr lang="en-US" sz="1238" dirty="0"/>
          </a:p>
        </p:txBody>
      </p:sp>
      <p:sp>
        <p:nvSpPr>
          <p:cNvPr id="39" name="Text 37"/>
          <p:cNvSpPr/>
          <p:nvPr/>
        </p:nvSpPr>
        <p:spPr>
          <a:xfrm>
            <a:off x="4282008" y="3432572"/>
            <a:ext cx="4261917" cy="71438"/>
          </a:xfrm>
          <a:prstGeom prst="roundRect">
            <a:avLst>
              <a:gd name="adj" fmla="val 13319907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02993" y="3432572"/>
            <a:ext cx="4240932" cy="71438"/>
          </a:xfrm>
          <a:prstGeom prst="roundRect">
            <a:avLst>
              <a:gd name="adj" fmla="val 13319907"/>
            </a:avLst>
          </a:prstGeom>
          <a:solidFill>
            <a:srgbClr val="2E5BA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282008" y="3532584"/>
            <a:ext cx="42619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مدل تولیفی قوی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60565" y="3839766"/>
            <a:ext cx="4526235" cy="481310"/>
          </a:xfrm>
          <a:prstGeom prst="roundRect">
            <a:avLst>
              <a:gd name="adj" fmla="val 19790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672513" y="3839766"/>
            <a:ext cx="0" cy="48131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17805" y="3962549"/>
            <a:ext cx="92612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547" dirty="0"/>
          </a:p>
        </p:txBody>
      </p:sp>
      <p:sp>
        <p:nvSpPr>
          <p:cNvPr id="45" name="Text 43"/>
          <p:cNvSpPr/>
          <p:nvPr/>
        </p:nvSpPr>
        <p:spPr>
          <a:xfrm>
            <a:off x="4274865" y="3925491"/>
            <a:ext cx="327150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نتیجه: SVM پایدارترین و دقیق‌ترین مدل بود — Error Rate تنها ۰.۱۳٪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89433" y="1200150"/>
            <a:ext cx="3696109" cy="1871104"/>
          </a:xfrm>
          <a:prstGeom prst="roundRect">
            <a:avLst>
              <a:gd name="adj" fmla="val 610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0" descr="/tmp/h2p-fit-1781944722025-s5iky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155" y="1260872"/>
            <a:ext cx="3574666" cy="1749661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285862" y="3131976"/>
            <a:ext cx="3703253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شکل ۸ — مقایسه عملکرد مدل‌ها در Split و 5-Fold Cross-Validation (منبع: مقاله)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8229600" cy="242888"/>
          </a:xfrm>
          <a:prstGeom prst="roundRect">
            <a:avLst>
              <a:gd name="adj" fmla="val 23529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433483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442913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29859" y="451842"/>
            <a:ext cx="57207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جمع‌بندی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" y="700088"/>
            <a:ext cx="86360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دستاوردهای پژوهش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05370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6294" y="1196578"/>
            <a:ext cx="4050506" cy="1709142"/>
          </a:xfrm>
          <a:prstGeom prst="roundRect">
            <a:avLst>
              <a:gd name="adj" fmla="val 6688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72513" y="1196578"/>
            <a:ext cx="0" cy="1709142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881" y="1310878"/>
            <a:ext cx="99086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807744" y="1353741"/>
            <a:ext cx="3679031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۲۰۵۳۱ → ۱۰۶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4807744" y="1645183"/>
            <a:ext cx="367903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کاهش ابعاد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4807744" y="1880927"/>
            <a:ext cx="3679031" cy="36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کاهش موفق ابعاد از ۲۰,۵۳۱ ژن به ۱۰۶ ژن کلیدی با Lasso، Ridge و Random Forest.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196578"/>
            <a:ext cx="4050506" cy="1709142"/>
          </a:xfrm>
          <a:prstGeom prst="roundRect">
            <a:avLst>
              <a:gd name="adj" fmla="val 6688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493419" y="1196578"/>
            <a:ext cx="0" cy="1709142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788" y="1310878"/>
            <a:ext cx="7369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628650" y="1353741"/>
            <a:ext cx="3679031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۵ کلاس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28650" y="1645183"/>
            <a:ext cx="367903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طبقه‌بندی موفق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28650" y="1880927"/>
            <a:ext cx="3679031" cy="36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طبقه‌بندی موفق ۵ نوع سرطان (BRCA, KIRC, COAD, LUAD, PRAD) با دقت ۹۹.۸۷٪.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36294" y="3034308"/>
            <a:ext cx="4050506" cy="1709142"/>
          </a:xfrm>
          <a:prstGeom prst="roundRect">
            <a:avLst>
              <a:gd name="adj" fmla="val 6688"/>
            </a:avLst>
          </a:prstGeom>
          <a:solidFill>
            <a:srgbClr val="E6F5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672513" y="3034308"/>
            <a:ext cx="0" cy="1709142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4881" y="3148608"/>
            <a:ext cx="73714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4807744" y="3191470"/>
            <a:ext cx="3679031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۱۰۶ ژن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4807744" y="3482913"/>
            <a:ext cx="367903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6A08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بیومارکر بالقوه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4807744" y="3718657"/>
            <a:ext cx="3679031" cy="181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شناسایی ۱۰۶ ژن مهم به‌عنوان بیومارکر بالقوه برای تشخیص مولکولی سرطان.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034308"/>
            <a:ext cx="4050506" cy="1709142"/>
          </a:xfrm>
          <a:prstGeom prst="roundRect">
            <a:avLst>
              <a:gd name="adj" fmla="val 6688"/>
            </a:avLst>
          </a:prstGeom>
          <a:solidFill>
            <a:srgbClr val="E7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493419" y="3034308"/>
            <a:ext cx="0" cy="1709142"/>
          </a:xfrm>
          <a:prstGeom prst="line">
            <a:avLst/>
          </a:prstGeom>
          <a:noFill/>
          <a:ln w="28575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788" y="3148608"/>
            <a:ext cx="175323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B3A6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628650" y="3191470"/>
            <a:ext cx="3679031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33"/>
              </a:lnSpc>
              <a:buNone/>
            </a:pPr>
            <a:r>
              <a:rPr lang="en-US" sz="1575" b="1" spc="-16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SVM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28650" y="3482913"/>
            <a:ext cx="367903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کاربرد بالینی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628650" y="3718657"/>
            <a:ext cx="3679031" cy="362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کاربرد SVM در بهبود تشخیص خودکار سرطان و پشتیبانی از تصمیم‌گیری درمانی.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29650" y="201811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063" y="171450"/>
            <a:ext cx="1193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RNA-Seq Cancer ML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15186" y="171450"/>
            <a:ext cx="4045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b="1" spc="25" kern="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00050"/>
            <a:ext cx="8229600" cy="242888"/>
          </a:xfrm>
          <a:prstGeom prst="roundRect">
            <a:avLst>
              <a:gd name="adj" fmla="val 23529"/>
            </a:avLst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62395" y="433483"/>
            <a:ext cx="235365" cy="176022"/>
          </a:xfrm>
          <a:prstGeom prst="roundRect">
            <a:avLst>
              <a:gd name="adj" fmla="val 2164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73368" y="442913"/>
            <a:ext cx="213420" cy="15716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58993" y="451842"/>
            <a:ext cx="6429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محدودیت‌ها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" y="700088"/>
            <a:ext cx="86360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9"/>
              </a:lnSpc>
              <a:buNone/>
            </a:pPr>
            <a:r>
              <a:rPr lang="en-US" sz="1688" b="1" spc="-17" kern="0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محدودیت‌های پژوهش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8286750" y="105370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168003"/>
            <a:ext cx="8229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با وجود نتایج امیدوارکننده، این مطالعه محدودیت‌هایی دارد که در مطالعات بعدی باید مورد توجه قرار گیرند: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460772" y="1443038"/>
            <a:ext cx="8222456" cy="800770"/>
          </a:xfrm>
          <a:prstGeom prst="roundRect">
            <a:avLst>
              <a:gd name="adj" fmla="val 142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456" y="1560909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7150" dist="19050" dir="5400000">
              <a:srgbClr val="C0392B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456" y="1560909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۰۱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7219" y="1575197"/>
            <a:ext cx="7486650" cy="18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کمبود اطلاعات زیستی (Metadata)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607219" y="1785938"/>
            <a:ext cx="748665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مجموعه داده فاقد نام و توصیف ژن‌ها بود. این موضوع شناسایی و درک عملکرد زیستی ژن‌های انتخاب‌شده را دشوار می‌کند و تفسیر بالینی بیومارکرها را محدود می‌سازد.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0772" y="2365251"/>
            <a:ext cx="8222456" cy="800770"/>
          </a:xfrm>
          <a:prstGeom prst="roundRect">
            <a:avLst>
              <a:gd name="adj" fmla="val 142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456" y="2483123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7150" dist="19050" dir="5400000">
              <a:srgbClr val="C0392B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456" y="2483123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۰۲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7219" y="2497410"/>
            <a:ext cx="7486650" cy="183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محدود بودن داده به یک منبع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607219" y="2708151"/>
            <a:ext cx="748665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تمام نمونه‌ها از پایگاه TCGA و پلتفرم Illumina HiSeq گردآوری شده‌اند. تنوع کم منابع ممکن است قابلیت تعمیم مدل به داده‌های سایر مراکز یا پلتفرم‌ها را محدود کند.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0772" y="3287464"/>
            <a:ext cx="8222456" cy="800770"/>
          </a:xfrm>
          <a:prstGeom prst="roundRect">
            <a:avLst>
              <a:gd name="adj" fmla="val 142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22456" y="3405336"/>
            <a:ext cx="314325" cy="314325"/>
          </a:xfrm>
          <a:prstGeom prst="roundRect">
            <a:avLst>
              <a:gd name="adj" fmla="val 3027273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7150" dist="19050" dir="5400000">
              <a:srgbClr val="C0392B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456" y="3405336"/>
            <a:ext cx="3143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1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۰۳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7219" y="3419624"/>
            <a:ext cx="7486650" cy="18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نیاز به اعتبارسنجی روی داده‌های بیشتر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607219" y="3630364"/>
            <a:ext cx="748665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برای تأیید پایداری نتایج، نیاز است مدل‌ها روی مجموعه داده‌های مستقل و بزرگ‌تر اعتبارسنجی شوند. اعتبارسنجی اولیه روی CuMiDa انجام شد اما هنوز کافی نیست.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206106"/>
            <a:ext cx="8229600" cy="407194"/>
          </a:xfrm>
          <a:prstGeom prst="roundRect">
            <a:avLst>
              <a:gd name="adj" fmla="val 28070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27975" y="4291831"/>
            <a:ext cx="8302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6A0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3052390" y="4332238"/>
            <a:ext cx="4604147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1B3A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کار آینده: جمع‌آوری داده‌های چندمرکزی + استخراج Metadata + اعتبارسنجی بیولوژیک بیومارکرها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2026-06-20T08:38:47Z</dcterms:created>
  <dcterms:modified xsi:type="dcterms:W3CDTF">2026-06-20T08:38:47Z</dcterms:modified>
</cp:coreProperties>
</file>